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slow: this is a real tubewell in Bangladesh. Twenty million people drink poison from wells exactly like it — invisibly.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WHO Bulletin — the strongest possible source. Emphasize invisibility: the water in the photo looks perfectly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not testing — it is everything that should happen AFTER testing: interpretation, trust,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literally see village roads and clusters in the data. Green vs red is life vs chronic disease.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positioning: those teams do real work. JolSetu complements them — the action and trust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move maps to a judging pillar: Read+Stamp = feasibility, Learn = innovation, Walk =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 story judges remember. Amina is illustrative — say so proudly; the features are all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screenshots are the real running app. Every dot is a real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village remembers one number from this deck: 150 feet.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dots = human said unsafe but lab says safe: families abandon working wells — a hidden cost nobody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iArsenic's 84%: ours is honest on local public data; architecture upgrades to the Science-2020 method as crowd data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$220M reaches all 20M exposed Bangladeshis — under 2% of the $13B loss it prevents.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'market potential' in Xylem's own portfolio language: measurement, data,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risky parts (data, model, trust layer) already run. The 8 weeks are calibration, server, pilot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quote. Thank the judges. Offer the live demo on their phone via the QR-free short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742">
              <a:alpha val="7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0B3742">
              <a:alpha val="6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JolSetu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02920" y="2487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01BAE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জলসেতু — “the water bridge”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EA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reads a $1 arsenic test kit. Every tubewell gets a QR-stamped, tamper-proof spot on a live map. Every family gets a walking route to verified safe water — offline, in Bangla.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2920" y="4956048"/>
            <a:ext cx="512064" cy="512064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8" name="Image 0" descr="E:/zcode-data/workspace/xylem2026/build_assets/icon_drop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7" y="5089185"/>
            <a:ext cx="245791" cy="24579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61288" y="4956048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0" name="Image 1" descr="E:/zcode-data/workspace/xylem2026/build_assets/icon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425" y="5089185"/>
            <a:ext cx="245791" cy="24579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19656" y="4956048"/>
            <a:ext cx="512064" cy="51206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2" name="Image 2" descr="E:/zcode-data/workspace/xylem2026/build_assets/icon_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793" y="5089185"/>
            <a:ext cx="245791" cy="24579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478024" y="4956048"/>
            <a:ext cx="512064" cy="512064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4" name="Image 3" descr="E:/zcode-data/workspace/xylem2026/build_assets/icon_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1161" y="5089185"/>
            <a:ext cx="245791" cy="2457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2920" y="5806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FE4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Xylem Global Student Innovation Challenge 2026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4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Quality problem statement  ·  University track  ·  Rudra Sarker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778240" y="6510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D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Photo: Wikimedia Commons (CC BY 2.0)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largest poisoning of a population in history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Bulletin, 2000 — on Bangladesh's groundwater arsenic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58368" cy="65836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5" name="Image 0" descr="E:/zcode-data/workspace/xylem2026/build_assets/icon_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18628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794760" y="169164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Bangladeshis drink above the national standard (50 µg/L); 45M above the WHO guideline (10 µg/L)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172968"/>
            <a:ext cx="658368" cy="65836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9" name="Image 1" descr="E:/zcode-data/workspace/xylem2026/build_assets/icon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96" y="3344144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31729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24,000+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3794760" y="3172968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 deaths a year from arsenic — plus up to 19,000 more from lower-level exposure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4654296"/>
            <a:ext cx="658368" cy="65836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3" name="Image 2" descr="E:/zcode-data/workspace/xylem2026/build_assets/icon_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482547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6542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US$13B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3794760" y="4654296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productivity over 20 years — while the fix, well-switching, costs ≈$11 per person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589520" y="1645920"/>
            <a:ext cx="40690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17" name="Image 3" descr="E:/zcode-data/workspace/xylem2026/build_assets/photo_tubewell_riv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35240" y="1691640"/>
            <a:ext cx="3977640" cy="3931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56967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Arsenic is invisible — no color, no taste, no smell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Flanagan et al., Bull WHO 2012 (2009 national survey); Smith et al., Bull WHO 2000. Photo: Wikimedia Commons (CC BY-SA 4.0).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once. Misread. And then… silence.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658368" cy="65836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E:/zcode-data/workspace/xylem2026/build_assets/icon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1725656"/>
            <a:ext cx="316017" cy="3160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once in decades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71600" y="199339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10M+ wells screened by national campaigns (2000–05, 2021–23). The result: a red or green paint mark — no live data, no follow-up.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3072384"/>
            <a:ext cx="658368" cy="658368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8" name="Image 1" descr="E:/zcode-data/workspace/xylem2026/build_assets/icon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96" y="3243560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0723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by eye, not instrument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371600" y="351129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kits are read by matching a pad color to a chart. On 943 real kit-vs-lab comparisons, humans wrongly condemned 37% of safe wells.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02920" y="4590288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2" descr="E:/zcode-data/workspace/xylem2026/build_assets/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96" y="4761464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act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371600" y="50292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your well fails, nothing tells you the nearest verified safe well. Families keep drinking — or walk blindly.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9281160" y="1737360"/>
            <a:ext cx="2377440" cy="3931920"/>
          </a:xfrm>
          <a:prstGeom prst="roundRect">
            <a:avLst>
              <a:gd name="adj" fmla="val 3846"/>
            </a:avLst>
          </a:prstGeom>
          <a:solidFill>
            <a:srgbClr val="FDECE6"/>
          </a:solidFill>
          <a:ln w="12700">
            <a:solidFill>
              <a:srgbClr val="F5C9B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281160" y="2148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37%</a:t>
            </a:r>
            <a:endParaRPr lang="en-US" sz="6000" dirty="0"/>
          </a:p>
        </p:txBody>
      </p:sp>
      <p:sp>
        <p:nvSpPr>
          <p:cNvPr id="17" name="Text 12"/>
          <p:cNvSpPr/>
          <p:nvPr/>
        </p:nvSpPr>
        <p:spPr>
          <a:xfrm>
            <a:off x="9491472" y="324612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SAFE wells get condemned by human misreading — families abandon safe water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418320" y="4892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(943 real kit-vs-lab rows, this project)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UNICEF/DPHE national screening; kit-vs-lab analysis computed from HydroShare DOI 10.4211/hs.8e1373d87419447c945625af13f0a2ea.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already knows where the poison 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dot below is a real, laboratory-measured tubewell from Columbia University's Araihazar survey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03520" cy="4727448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5" name="Image 0" descr="E:/zcode-data/workspace/xylem2026/build_assets/fig_well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5212080" cy="4636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178308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52.9%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732520" y="180136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these 6,593 wells exceed the national standard — this is a hotspot upazila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72200" y="32644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76% → 11%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732520" y="3282696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unsafe share drops from the 50–100 ft aquifer to below 150 ft — depth is destiny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72200" y="47457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DOI-cited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732520" y="4764024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dataset (HydroShare 10.4211/hs.8e1373d87419447c945625af13f0a2ea) — the pilot runs on truth, not mockups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Figure: scatter of the full dataset computed in this project (build/make_figures.py).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apps and registries exist. None close the loop.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0881360" y="384048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4" name="Image 0" descr="E:/zcode-data/workspace/xylem2026/build_assets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4006" y="526694"/>
            <a:ext cx="263347" cy="26334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27632"/>
                <a:gridCol w="1627632"/>
                <a:gridCol w="1627632"/>
                <a:gridCol w="1627632"/>
                <a:gridCol w="162763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the $1 kit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crowd map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Fraud-proof data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Routes to safe wells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Offline + Bangla voice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iArsenic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Univ. of Portsmouth — static 3-input screen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Nolkup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DPHE-adjacent registry app (RCT 2025)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Arsenic 4M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cloud-connected test hardware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BEC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A3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JolSetu
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B768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action layer on existing kits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55778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JolSetu is the only system that digitizes the kit people already buy, keeps the map trustworthy, and walks families to safe water.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Univ. of Portsmouth iArsenic news (2025); Nolkup — ACS ES&amp;T Water 2025 + AEA RCT 10.1257/rct.15469; arsenic-4m.org.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moves, one bridge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4088" y="1728216"/>
            <a:ext cx="713232" cy="71323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5" name="Image 0" descr="E:/zcode-data/workspace/xylem2026/build_assets/icon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528" y="1913656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Read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22376" y="308152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+ color science reads any $1 Gutzeit kit: white-reference normalization, CIELAB chart matching, spoken Bangla verdict.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63240" y="2880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374136" y="150876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75304" y="1728216"/>
            <a:ext cx="713232" cy="71323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E:/zcode-data/workspace/xylem2026/build_assets/icon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744" y="19136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Stamp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593592" y="308152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HMAC-signed QR well code + 30 m GPS geofence + duplicate detection. Cheaters are flagged or rejected — the map stays true.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34456" y="2880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6245352" y="150876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46520" y="1728216"/>
            <a:ext cx="713232" cy="713232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17" name="Image 2" descr="E:/zcode-data/workspace/xylem2026/build_assets/icon_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960" y="19136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4808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Learn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464808" y="308152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disclosed risk model (AUC 0.67) finds where the map and the model disagree; the crowd tests there next. Every test improves it.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805672" y="28803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9116568" y="1508760"/>
            <a:ext cx="2615184" cy="329184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88900" dist="25400" dir="5400000">
              <a:srgbClr val="0B3742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17736" y="1728216"/>
            <a:ext cx="713232" cy="713232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3" name="Image 3" descr="E:/zcode-data/workspace/xylem2026/build_assets/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176" y="1913656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36024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Walk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9336024" y="3081528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Distance, compass bearing and walking time to the nearest verified safe wells — cached offline, voiced in Bangla.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02920" y="507492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E8F6F3"/>
          </a:solidFill>
          <a:ln/>
        </p:spPr>
      </p:sp>
      <p:sp>
        <p:nvSpPr>
          <p:cNvPr id="27" name="Text 21"/>
          <p:cNvSpPr/>
          <p:nvPr/>
        </p:nvSpPr>
        <p:spPr>
          <a:xfrm>
            <a:off x="777240" y="50749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new hardware: the kit is already sold in every bazaar, the reader is any Android phone.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Amina's Tuesday — how one family gets safe water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realistic walkthrough of the pilot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5" name="Image 0" descr="E:/zcode-data/workspace/xylem2026/build_assets/icon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86" y="1807586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4592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9:00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240280" y="164592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Buys a 30-taka kit at the bazaar, fills a vial from her tubewell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13816" y="2267712"/>
            <a:ext cx="0" cy="548640"/>
          </a:xfrm>
          <a:prstGeom prst="line">
            <a:avLst/>
          </a:prstGeom>
          <a:noFill/>
          <a:ln w="19050">
            <a:solidFill>
              <a:srgbClr val="B9CFD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02920" y="2816352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0" name="Image 1" descr="E:/zcode-data/workspace/xylem2026/build_assets/icon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6" y="2978018"/>
            <a:ext cx="298460" cy="298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816352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9:02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240280" y="2816352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Photographs the pad — JolSetu reads 200 µg/L, speaks: “Unsafe” in Bangla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3816" y="3438144"/>
            <a:ext cx="0" cy="548640"/>
          </a:xfrm>
          <a:prstGeom prst="line">
            <a:avLst/>
          </a:prstGeom>
          <a:noFill/>
          <a:ln w="19050">
            <a:solidFill>
              <a:srgbClr val="B9CFD8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02920" y="3986784"/>
            <a:ext cx="621792" cy="621792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5" name="Image 2" descr="E:/zcode-data/workspace/xylem2026/build_assets/icon_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86" y="4148450"/>
            <a:ext cx="298460" cy="298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986784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9:03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240280" y="3986784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Scans the well's QR tag — result stamped to the public map, geofence-verified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13816" y="4608576"/>
            <a:ext cx="0" cy="548640"/>
          </a:xfrm>
          <a:prstGeom prst="line">
            <a:avLst/>
          </a:prstGeom>
          <a:noFill/>
          <a:ln w="19050">
            <a:solidFill>
              <a:srgbClr val="B9CFD8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502920" y="5157216"/>
            <a:ext cx="621792" cy="621792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0" name="Image 3" descr="E:/zcode-data/workspace/xylem2026/build_assets/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6" y="5318882"/>
            <a:ext cx="298460" cy="298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515721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9:10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2240280" y="5157216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Follows the app's bearing: 340 m to a verified safe well. Her kids drink safely that evening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732520" y="1600200"/>
            <a:ext cx="2971800" cy="40690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24" name="Image 4" descr="E:/zcode-data/workspace/xylem2026/build_assets/photo_tubewell_fellow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778240" y="1645920"/>
            <a:ext cx="2880360" cy="3977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32520" y="56967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minutes from doubt to safe water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journey composed from the pilot feature set; kit price ≈30 BDT ≈ US$0.25–1 depending on brand.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concept — a running system on real data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772227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4" name="Image 0" descr="E:/zcode-data/jolsetu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3680787" cy="2176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12464"/>
            <a:ext cx="3772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map — 6,593 real wells + routing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458027" y="1417320"/>
            <a:ext cx="3447619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7" name="Image 1" descr="E:/zcode-data/jolsetu-reader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3747" y="1463040"/>
            <a:ext cx="3356179" cy="21762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8027" y="3712464"/>
            <a:ext cx="3447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AI — demo pad → spoken UNSAFE verdict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134245" y="1417320"/>
            <a:ext cx="3772227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10" name="Image 2" descr="E:/zcode-data/jolsetu-check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9965" y="1463040"/>
            <a:ext cx="3680787" cy="21762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4245" y="3712464"/>
            <a:ext cx="3772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Check-in — honest passes, cheater rejected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02920" y="44805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6,593</a:t>
            </a:r>
            <a:endParaRPr lang="en-US" sz="3300" dirty="0"/>
          </a:p>
        </p:txBody>
      </p:sp>
      <p:sp>
        <p:nvSpPr>
          <p:cNvPr id="13" name="Text 8"/>
          <p:cNvSpPr/>
          <p:nvPr/>
        </p:nvSpPr>
        <p:spPr>
          <a:xfrm>
            <a:off x="502920" y="51023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wells loaded — Columbia University's Araihazar survey (DOI-cited)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297680" y="44805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23</a:t>
            </a:r>
            <a:endParaRPr lang="en-US" sz="3300" dirty="0"/>
          </a:p>
        </p:txBody>
      </p:sp>
      <p:sp>
        <p:nvSpPr>
          <p:cNvPr id="15" name="Text 10"/>
          <p:cNvSpPr/>
          <p:nvPr/>
        </p:nvSpPr>
        <p:spPr>
          <a:xfrm>
            <a:off x="4297680" y="51023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passing: routing, color science, QR signatures, geofence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092440" y="44805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BN + EN</a:t>
            </a:r>
            <a:endParaRPr lang="en-US" sz="3300" dirty="0"/>
          </a:p>
        </p:txBody>
      </p:sp>
      <p:sp>
        <p:nvSpPr>
          <p:cNvPr id="17" name="Text 12"/>
          <p:cNvSpPr/>
          <p:nvPr/>
        </p:nvSpPr>
        <p:spPr>
          <a:xfrm>
            <a:off x="8092440" y="510235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bilingual UI with text-to-speech; installs as an offline app (PWA)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demo: https://rudra496.github.io/jolsetu/  ·  Code + evidence: https://github.com/rudra496/jolsetu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already knows: drill deep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6492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4" name="Image 0" descr="E:/zcode-data/workspace/xylem2026/build_assets/fig_dep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4008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595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Computed from the 6,454 depth-tagged wells of the 6,593-well pilot dataset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52360" y="173736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chart can save a life.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Wells in the 50–100 ft band are unsafe 76% of the time; below 150 ft, only ~11%. JolSetu teaches this before a family pays to drill.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photometry is proven.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arsenic measurement from phone photos of these exact field kits was validated in Bangladesh (Haque et al., Sci Total Environ 2018).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Figure: this project's dataset (HydroShare DOI 10.4211/hs.8e1373d87419447c945625af13f0a2ea); Haque et al. doi 10.1016/j.scitotenv.2016.12.123.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eyes are the weak link — AI reading fixes it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6126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101600" dist="25400" dir="5400000">
              <a:srgbClr val="0B3742">
                <a:alpha val="16000"/>
              </a:srgbClr>
            </a:outerShdw>
          </a:effectLst>
        </p:spPr>
      </p:sp>
      <p:pic>
        <p:nvPicPr>
          <p:cNvPr id="4" name="Image 0" descr="E:/zcode-data/workspace/xylem2026/build_assets/fig_kitla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60350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0167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943 real kit-vs-lab comparisons (orange = harmful misread)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08660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99.3%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098280" y="1728216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 — humans rarely miss truly unsafe wells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86600" y="3154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63.0%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098280" y="3191256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specificity — but 37% of safe wells get wrongly condemned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86600" y="4617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80.3%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098280" y="4654296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agreement with the lab — standardized CV reading targets that 37%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+ stats computed from HydroShare DOI 10.4211/hs.8e1373d87419447c945625af13f0a2ea (Dataset1, n=943); kit accuracy context: Reddy et al., Water Research 2020.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map gets smarter with every test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5" name="Image 0" descr="E:/zcode-data/workspace/xylem2026/build_assets/icon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9714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04088" y="25146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map P(As≥50)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 0.67, disclosed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026664" y="228600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374136" y="16459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57016" y="1828800"/>
            <a:ext cx="548640" cy="548640"/>
          </a:xfrm>
          <a:prstGeom prst="ellipse">
            <a:avLst/>
          </a:prstGeom>
          <a:solidFill>
            <a:srgbClr val="E9A319"/>
          </a:solidFill>
          <a:ln/>
        </p:spPr>
      </p:sp>
      <p:pic>
        <p:nvPicPr>
          <p:cNvPr id="11" name="Image 1" descr="E:/zcode-data/workspace/xylem2026/build_assets/icon_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662" y="19714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97096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Disagreement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75304" y="25146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where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map differ most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897880" y="228600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245352" y="16459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28232" y="182880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7" name="Image 2" descr="E:/zcode-data/workspace/xylem2026/build_assets/icon_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19714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68312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queue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46520" y="25146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tells clubs &amp; officers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test next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8769096" y="2286000"/>
            <a:ext cx="402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9116568" y="1645920"/>
            <a:ext cx="25786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99448" y="18288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3" name="Image 3" descr="E:/zcode-data/workspace/xylem2026/build_assets/icon_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094" y="19714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39528" y="18470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tests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317736" y="2514600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check-ins 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map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1828800" y="4160520"/>
            <a:ext cx="8503920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dash"/>
            <a:headEnd type="triangle"/>
          </a:ln>
        </p:spPr>
      </p:sp>
      <p:sp>
        <p:nvSpPr>
          <p:cNvPr id="27" name="Text 21"/>
          <p:cNvSpPr/>
          <p:nvPr/>
        </p:nvSpPr>
        <p:spPr>
          <a:xfrm>
            <a:off x="201168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verified test re-trains the model — active learning, not a static score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02920" y="49834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matters: </a:t>
            </a:r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apps and 20-year-old hazard maps freeze in time; groundwater changes. JolSetu's evidence base compounds. Production roadmap: a gradient-boosted national model (Science 2020 approach) refreshed live — disclosed in-app via a model card.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model: logistic on real Araihazar wells, AUC 0.672 on 1,319 held-out wells (docs/MODEL_CARD.md).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math, not impact vibes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37360"/>
            <a:ext cx="603504" cy="603504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E:/zcode-data/workspace/xylem2026/build_assets/icon_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431" y="189427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person was enough for UNICEF's safe-water switch program (2006–11) — the intervention JolSetu industrializes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5087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737360"/>
            <a:ext cx="603504" cy="603504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0" name="Image 1" descr="E:/zcode-data/workspace/xylem2026/build_assets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91" y="189427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years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4544568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Araihazar field evidence: labeled wells + switching cut exposure sustainably (Jamil et al., ES&amp;T 2019)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92440" y="1508760"/>
            <a:ext cx="356616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5EB"/>
            </a:solidFill>
            <a:prstDash val="solid"/>
          </a:ln>
          <a:effectLst>
            <a:outerShdw sx="100000" sy="100000" kx="0" ky="0" algn="bl" rotWithShape="0" blurRad="76200" dist="25400" dir="5400000">
              <a:srgbClr val="0B3742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21040" y="1737360"/>
            <a:ext cx="603504" cy="60350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5" name="Image 2" descr="E:/zcode-data/workspace/xylem2026/build_assets/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951" y="189427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52560" y="173736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94M+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339328" y="25146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across the arsenic belt face the same crisis (Science 2020) — Bangladesh is the pilot, not the ceiling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02920" y="443484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9" name="Text 14"/>
          <p:cNvSpPr/>
          <p:nvPr/>
        </p:nvSpPr>
        <p:spPr>
          <a:xfrm>
            <a:off x="777240" y="4434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76F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 </a:t>
            </a:r>
            <a:pPr indent="0" marL="0">
              <a:buNone/>
            </a:pPr>
            <a:r>
              <a:rPr lang="en-US" sz="14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person-days of arsenic exposure avoided = (verified unsafe wells) × (avg users) × (days since switch).  </a:t>
            </a:r>
            <a:pPr indent="0" marL="0">
              <a:buNone/>
            </a:pPr>
            <a:r>
              <a:rPr lang="en-US" sz="145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endpoint: </a:t>
            </a:r>
            <a:pPr indent="0" marL="0">
              <a:buNone/>
            </a:pPr>
            <a:r>
              <a:rPr lang="en-US" sz="145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avoided exposure converts to avoided deaths via Bull WHO 2012 hazard ratios — the strongest impact claim a water project can make.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02920" y="6455664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Flanagan et al., Bull WHO 2012; Jamil et al., ES&amp;T 2019 (10.1021/acs.est.9b01375); Podgorski &amp; Berg, Science 2020 (10.1126/science.aba1510).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mile of water quality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129844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Xylem's instruments measure world-class water data. JolSetu is the missing last mile: 20 million measurement points that measure themselves.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0E4454"/>
          </a:solidFill>
          <a:ln w="12700">
            <a:solidFill>
              <a:srgbClr val="1B5E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6" name="Image 0" descr="E:/zcode-data/workspace/xylem2026/build_assets/icon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7486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BA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Instrument → data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49808" y="329184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$1 kit becomes a networked sensor; every phone, a reader for Xylem-grade water-quality intelligence.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3774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0E4454"/>
          </a:solidFill>
          <a:ln w="12700">
            <a:solidFill>
              <a:srgbClr val="1B5E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2606040"/>
            <a:ext cx="548640" cy="548640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11" name="Image 1" descr="E:/zcode-data/workspace/xylem2026/build_assets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7486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BA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services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544568" y="329184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Anonymized live contamination layers are what utilities, NGOs and DPHE buy — and what Xylem's analytics stack can serve.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2440" y="23774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0E4454"/>
          </a:solidFill>
          <a:ln w="12700">
            <a:solidFill>
              <a:srgbClr val="1B5E7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2606040"/>
            <a:ext cx="548640" cy="548640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16" name="Image 2" descr="E:/zcode-data/workspace/xylem2026/build_assets/icon_d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7486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1BA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goals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39328" y="3291840"/>
            <a:ext cx="3127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9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progress on Xylem's water-security commitments — with public KPIs (exposure-days avoided).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Sustainability: NGO/DPHE SaaS tier + school program licensing; free forever for families.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weeks from pilot to proof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10607040" cy="0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2249424"/>
            <a:ext cx="256032" cy="256032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170432"/>
            <a:ext cx="768096" cy="768096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E:/zcode-data/workspace/xylem2026/build_assets/icon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97" y="1370137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W1–2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0312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Bamail pilot: 2 schools, 50 kits, per-batch chart calibration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2249424"/>
            <a:ext cx="256032" cy="256032"/>
          </a:xfrm>
          <a:prstGeom prst="ellipse">
            <a:avLst/>
          </a:prstGeom>
          <a:solidFill>
            <a:srgbClr val="0B4F6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90672" y="2697480"/>
            <a:ext cx="768096" cy="768096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1" name="Image 1" descr="E:/zcode-data/workspace/xylem2026/build_assets/icon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377" y="2897185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W3–4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907792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ledger + officer review (geofenced check-ins at scale)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44184" y="2249424"/>
            <a:ext cx="256032" cy="256032"/>
          </a:xfrm>
          <a:prstGeom prst="ellipse">
            <a:avLst/>
          </a:prstGeom>
          <a:solidFill>
            <a:srgbClr val="01BA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88152" y="1170432"/>
            <a:ext cx="768096" cy="768096"/>
          </a:xfrm>
          <a:prstGeom prst="ellipse">
            <a:avLst/>
          </a:prstGeom>
          <a:solidFill>
            <a:srgbClr val="01BAEF"/>
          </a:solidFill>
          <a:ln/>
        </p:spPr>
      </p:sp>
      <p:pic>
        <p:nvPicPr>
          <p:cNvPr id="16" name="Image 2" descr="E:/zcode-data/workspace/xylem2026/build_assets/icon_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857" y="1370137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W5–6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605272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risk model v1 + SMS fallback for feature phones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741664" y="2249424"/>
            <a:ext cx="256032" cy="256032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485632" y="2697480"/>
            <a:ext cx="768096" cy="768096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E:/zcode-data/workspace/xylem2026/build_assets/icon_d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337" y="2897185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66760" y="3520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W7–8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302752" y="3977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audit: wells switched, exposure-days avoided — published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525780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257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done today: </a:t>
            </a:r>
            <a:pPr indent="0" marL="0">
              <a:buNone/>
            </a:pPr>
            <a:r>
              <a:rPr lang="en-US" sz="1400" dirty="0">
                <a:solidFill>
                  <a:srgbClr val="0E2A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pipeline + model + kit-accuracy table, 23 automated tests, offline PWA (BN/EN + voice), live-verified evidence file.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zcode-data/workspace/xylem2026/build_assets/photo_vill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0"/>
            <a:ext cx="46908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0B3742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737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us on the bridge.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50292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1BAE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জলসেতু — নিরাপদ পানির সেতু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02920" y="3474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Twenty million people don't need another warning.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AF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need a bridge — built on data they can trust, in a language they speak.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50292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 ·  https://rudra496.github.io/jolsetu/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+ evidence  ·  https://github.com/rudra496/jolsetu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C4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Rudra Sarker  ·  Xylem Global Student Innovation Challenge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9B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Photos: Wikimedia Commons (CC BY 2.0 / CC BY-SA 4.0). Figures: this project's analysis of open data (HydroShare DOI 10.4211/hs.8e1373d87419447c945625af13f0a2ea).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JolSetu — Xylem Global Student Innovation Challenge 2026</dc:title>
  <dc:subject>PptxGenJS Presentation</dc:subject>
  <dc:creator>Rudra Sarker</dc:creator>
  <cp:lastModifiedBy>Rudra Sarker</cp:lastModifiedBy>
  <cp:revision>1</cp:revision>
  <dcterms:created xsi:type="dcterms:W3CDTF">2026-09-11T20:52:50Z</dcterms:created>
  <dcterms:modified xsi:type="dcterms:W3CDTF">2026-09-11T20:52:50Z</dcterms:modified>
</cp:coreProperties>
</file>
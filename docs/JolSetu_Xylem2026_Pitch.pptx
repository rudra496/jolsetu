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A3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2A35"/>
                </a:solidFill>
                <a:latin typeface="Arial"/>
              </a:rPr>
              <a:t>Unsafe share by well depth — 6,593 real wells, Araihazar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unsafe (≥50 µg/L)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E2A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0–50 ft</c:v>
                  </c:pt>
                  <c:pt idx="1">
                    <c:v>50–100 ft</c:v>
                  </c:pt>
                  <c:pt idx="2">
                    <c:v>100–150 ft</c:v>
                  </c:pt>
                  <c:pt idx="3">
                    <c:v>150–250 ft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48.6</c:v>
                </c:pt>
                <c:pt idx="1">
                  <c:v>76.2</c:v>
                </c:pt>
                <c:pt idx="2">
                  <c:v>25.3</c:v>
                </c:pt>
                <c:pt idx="3">
                  <c:v>10.6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E2A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6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C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7681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7681"/>
                    </a:solidFill>
                    <a:latin typeface="Arial"/>
                  </a:rPr>
                  <a:t>unsafe share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6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quote on the next slide's context: largest poisoning of a population in history. One breath, then the promise: a bridge between 20 million people and safe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Anchor: arsenic is invisible — no color, taste, smell. These are the official WHO Bulletin numbers from the 2009 national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not testing — it is the missing live layer after testing: interpretation, trust, and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honestly: these teams do real work. JolSetu is complementary — the action and live-trust layer none of them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move maps to a judging pillar: Read+Stamp = feasibility, Learn = innovation, Walk = impact. Zero new hardware is the feasibility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screenshots are the real running app. Emphasize: every dot is a real measurement, not simulated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depth gradient is the killer fact: 76% unsafe at 50-100 ft vs 11% below 150 ft. That single chart can change where villages drill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judges ask about the 84% claim of iArsenic: our AUC 0.67 is honest on local public data; the architecture upgrades to the Science-2020 method as crowd data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score Impact on reach AND realism. The $11/capita number makes scale-up concrete: $220M reaches 20M people — less than 2% of the $13B loss it prevents.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'market potential' directly — align with Xylem's own portfolio language: measurement, data,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pillar: the risky parts (data, model, trust layer) already run. The 8 weeks are for calibration, server, and the pilot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slide can grow to 5 members if Rudra recruits classmates — the deck supports either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'Twenty million people don't need another warning. They need a bridge.' Pause. Thank the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480560"/>
            <a:ext cx="8686800" cy="5120640"/>
          </a:xfrm>
          <a:prstGeom prst="ellipse">
            <a:avLst/>
          </a:prstGeom>
          <a:solidFill>
            <a:srgbClr val="0B4F6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2194560"/>
            <a:ext cx="6949440" cy="4754880"/>
          </a:xfrm>
          <a:prstGeom prst="ellipse">
            <a:avLst/>
          </a:prstGeom>
          <a:solidFill>
            <a:srgbClr val="0B4F6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20840" y="1920240"/>
            <a:ext cx="3108960" cy="1051560"/>
          </a:xfrm>
          <a:prstGeom prst="line">
            <a:avLst/>
          </a:prstGeom>
          <a:noFill/>
          <a:ln w="44450">
            <a:solidFill>
              <a:srgbClr val="01B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2743200"/>
            <a:ext cx="457200" cy="45720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JolSetu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1BAE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জলসেতু — “the water bridge”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9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reads a $1 arsenic test kit. Every tubewell gets a QR-stamped, tamper-proof spot on a live map. Every family gets a walking route to verified safe water — offline, in Bangla.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56235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Xylem Global Student Innovation Challenge 2026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 Quality problem statement  ·  University track  ·  Rudra Sarker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largest poisoning of a population in history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WHO Bulletin, 2000, on Bangladesh's groundwater arsenic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20M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852160" y="196596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Bangladeshis drink water above the national arsenic standard of 50 µg/L. 45 million drink above the WHO guideline of 10 µg/L.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24,000+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 deaths a year from arsenic (&gt;50 µg/L)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3794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+19,000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297680" y="45720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likely from 10–50 µg/L exposure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3794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US$13B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092440" y="45720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productivity loss over 20 years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Flanagan et al., Bull WHO 2012 (2009 national survey); Smith et al., Bull WHO 2000.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once. Misread. And then… silence.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90472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90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once in decades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5623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10M+ wells screened by national campaigns (2000–05, 2021–23). Result: a red or green paint mark — no live data, no follow-up.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8986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by eye, not by instrument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337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kits are read by matching a pad color to a chart. On 943 real kit-vs-lab comparisons, humans wrongly condemned 37% of safe wells.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4453128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453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43799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way to act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81888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your well fails, nothing tells you the nearest verified safe well. Families keep drinking — or walk blindly.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UNICEF/DPHE national screening programs; kit-vs-lab analysis in this project (HydroShare DOI 10.4211/hs.8e1373d87419447c945625af13f0a2ea).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apps and registries exist. None close the loop.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27632"/>
                <a:gridCol w="1627632"/>
                <a:gridCol w="1627632"/>
                <a:gridCol w="1627632"/>
                <a:gridCol w="1627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Reads the $1 kit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crowd map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Fraud-proof data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Routes to safe wells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Offline + Bangla voice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iArsenic
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6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Univ. of Portsmouth — static 3-input screen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Nolkup
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6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DPHE-adjacent registry app (RCT 2025)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Arsenic 4M
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6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cloud-connected test hardware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JolSetu
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6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action layer on existing kits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JolSetu is the only system that digitizes the kit people already buy, keeps the map trustworthy, and walks families to safe water.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University of Portsmouth iArsenic news (2025); Nolkup — ACS ES&amp;T Water 2025 + AEA RCT 10.1257/rct.15469; Arsenic-4M project site.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moves, one bridge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2615184" cy="3017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88900" dist="25400" dir="5400000">
              <a:srgbClr val="0B3742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04088" y="1801368"/>
            <a:ext cx="658368" cy="65836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801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22376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" y="3081528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+ color science reads any $1 Gutzeit kit: white-reference normalization, CIELAB chart matching, spoken Bangla verdict.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2834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74136" y="1600200"/>
            <a:ext cx="2615184" cy="3017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88900" dist="25400" dir="5400000">
              <a:srgbClr val="0B3742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5304" y="1801368"/>
            <a:ext cx="658368" cy="65836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1801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93592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Stamp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93592" y="3081528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HMAC-signed QR well code + 30 m GPS geofence + duplicate detection. Cheaters are flagged or rejected — the map stays true.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34456" y="2834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45352" y="1600200"/>
            <a:ext cx="2615184" cy="3017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88900" dist="25400" dir="5400000">
              <a:srgbClr val="0B3742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801368"/>
            <a:ext cx="658368" cy="658368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801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64808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64808" y="3081528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disclosed risk model (AUC 0.67) finds where the map and the model disagree; the crowd tests there next. Every test improves 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05672" y="2834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16568" y="1600200"/>
            <a:ext cx="2615184" cy="301752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88900" dist="25400" dir="5400000">
              <a:srgbClr val="0B3742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17736" y="1801368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9317736" y="1801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336024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36024" y="3081528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Distance, compass bearing and walking time to the nearest verified safe wells — cached offline, voiced in Bangla.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required: a test kit already sold in every bazaar, and any Android phone.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concept — a running system on real data</a:t>
            </a:r>
            <a:endParaRPr lang="en-US" sz="3000" dirty="0"/>
          </a:p>
        </p:txBody>
      </p:sp>
      <p:pic>
        <p:nvPicPr>
          <p:cNvPr id="3" name="Image 0" descr="E:/zcode-data/jolsetu-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3634390" cy="2148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566160"/>
            <a:ext cx="36343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map — 6,593 real wells, safe-well routing</a:t>
            </a:r>
            <a:endParaRPr lang="en-US" sz="1200" dirty="0"/>
          </a:p>
        </p:txBody>
      </p:sp>
      <p:pic>
        <p:nvPicPr>
          <p:cNvPr id="5" name="Image 1" descr="E:/zcode-data/jolsetu-reader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1630" y="1371600"/>
            <a:ext cx="3313874" cy="2148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11630" y="3566160"/>
            <a:ext cx="33138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 AI — 220 demo pad → UNSAFE verdict, spoken</a:t>
            </a:r>
            <a:endParaRPr lang="en-US" sz="1200" dirty="0"/>
          </a:p>
        </p:txBody>
      </p:sp>
      <p:pic>
        <p:nvPicPr>
          <p:cNvPr id="7" name="Image 2" descr="E:/zcode-data/jolsetu-checki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99824" y="1371600"/>
            <a:ext cx="3634390" cy="21488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99824" y="3566160"/>
            <a:ext cx="36343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— honest passes, cheater rejected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02920" y="4434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6,593</a:t>
            </a:r>
            <a:endParaRPr lang="en-US" sz="3400" dirty="0"/>
          </a:p>
        </p:txBody>
      </p:sp>
      <p:sp>
        <p:nvSpPr>
          <p:cNvPr id="10" name="Text 5"/>
          <p:cNvSpPr/>
          <p:nvPr/>
        </p:nvSpPr>
        <p:spPr>
          <a:xfrm>
            <a:off x="502920" y="5074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wells loaded — Columbia University's Araihazar survey (DOI-cited)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297680" y="4434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/ 23</a:t>
            </a:r>
            <a:endParaRPr lang="en-US" sz="3400" dirty="0"/>
          </a:p>
        </p:txBody>
      </p:sp>
      <p:sp>
        <p:nvSpPr>
          <p:cNvPr id="12" name="Text 7"/>
          <p:cNvSpPr/>
          <p:nvPr/>
        </p:nvSpPr>
        <p:spPr>
          <a:xfrm>
            <a:off x="4297680" y="5074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passing (routing, color science, QR signatures, geofence)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092440" y="4434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BN + EN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8092440" y="5074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bilingual UI with text-to-speech; installs as an offline PWA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demo: https://rudra496.github.io/jolsetu/  ·  Code: https://github.com/rudra496/jolsetu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already knows where the poison is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37160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949440" y="1463040"/>
            <a:ext cx="4709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photometry is proven. 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Quantitative arsenic measurement from phone photos of field kits was validated in Bangladesh (Haque et al., Sci Total Environ 2018).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eyes are the weak link. 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943 real kit-vs-lab comparisons: humans catch 99.3% of unsafe wells but wrongly condemn 37% of safe ones — well-switching chaos the AI reader prevents.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 deep. 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Wells below 150 ft are ~7× safer. JolSetu teaches this before a family pays to drill.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 computed from HydroShare DOI 10.4211/hs.8e1373d87419447c945625af13f0a2ea; human baseline: same dataset, 943 kit-vs-lab rows.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map gets smarter with every test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3736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1252728" y="19019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4088" y="24871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map P(As≥50)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 0.67, disclosed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26664" y="22402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74136" y="173736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57016" y="1920240"/>
            <a:ext cx="457200" cy="457200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0" name="Text 8"/>
          <p:cNvSpPr/>
          <p:nvPr/>
        </p:nvSpPr>
        <p:spPr>
          <a:xfrm>
            <a:off x="4123944" y="19019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Disagreement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75304" y="24871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where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map differ most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22402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192024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9019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queue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4871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tells clubs &amp; officers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test next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69096" y="22402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116568" y="173736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99448" y="19202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9866376" y="19019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verified tests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17736" y="24871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check-ins update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public map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0" y="3977640"/>
            <a:ext cx="8503920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dash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011680" y="4041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verified test re-trains the model — active learning, not a static score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8920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matters: </a:t>
            </a:r>
            <a:pPr indent="0" marL="0">
              <a:buNone/>
            </a:pPr>
            <a:r>
              <a:rPr lang="en-US" sz="14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apps (iArsenic, national hazard maps) freeze in time. Groundwater and well usage change; JolSetu's evidence base compounds. Production roadmap: gradient-boosted national model (Science 2020 approach) refreshed live by verified tests — disclosed in-app via a model card.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model: logistic on real Araihazar wells, AUC 0.672 on 1,319 held-out wells (see MODEL_CARD.md).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math, not impact vibes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E8F6F3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8716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person was enough for UNICEF's safe-water switch program (2006–11) — the intervention JolSetu industrializes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years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26280" y="248716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Araihazar field evidence: labeled wells + switching cut exposure sustainably (Jamil et al., ES&amp;T 2019)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94M+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321040" y="248716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across the arsenic belt face the same crisis (Science 2020) — Bangladesh is the pilot, not the ceiling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206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KPI: </a:t>
            </a:r>
            <a:pPr indent="0" marL="0">
              <a:buNone/>
            </a:pPr>
            <a:r>
              <a:rPr lang="en-US" sz="16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person-days of arsenic exposure avoided = (verified unsafe wells) × (average users) × (days since switch). Every feature exists to move this number.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49834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endpoint: </a:t>
            </a:r>
            <a:pPr indent="0" marL="0">
              <a:buNone/>
            </a:pPr>
            <a:r>
              <a:rPr lang="en-US" sz="16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arsenic exposure carries measurable all-cause mortality risk (Bull WHO 2012 hazard ratios) — avoided exposure converts to avoided deaths, the strongest impact claim a water project can make.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19088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Flanagan et al., Bull WHO 2012; Jamil et al., ES&amp;T 2019 (DOI 10.1021/acs.est.9b01375); Podgorski &amp; Berg, Science 2020.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mile of water quality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9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Xylem's instruments measure world-class water data. JolSetu is the missing last mile: 20 million measurement points that measure themselves.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246888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0E4454"/>
          </a:solidFill>
          <a:ln w="12700">
            <a:solidFill>
              <a:srgbClr val="1B5E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BA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 →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45536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9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$1 kit becomes a networked sensor; every phone, a reader for Xylem-grade water-quality intelligence.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246888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0E4454"/>
          </a:solidFill>
          <a:ln w="12700">
            <a:solidFill>
              <a:srgbClr val="1B5E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BA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services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3145536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9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Anonymized live contamination layers are exactly what utilities, NGOs and DPHE buy — and what Xylem's analytics stack can serve.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246888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0E4454"/>
          </a:solidFill>
          <a:ln w="12700">
            <a:solidFill>
              <a:srgbClr val="1B5E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BA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 goals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3145536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9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Direct, measurable progress on Xylem's water-security commitments — with public KPIs (exposure-days avoided).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800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Sustainability: NGO/DPHE SaaS tier + school program licensing; free forever for families.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weeks from pilot to proof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286000"/>
            <a:ext cx="10607040" cy="0"/>
          </a:xfrm>
          <a:prstGeom prst="line">
            <a:avLst/>
          </a:prstGeom>
          <a:noFill/>
          <a:ln w="31750">
            <a:solidFill>
              <a:srgbClr val="0B4F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" y="2157984"/>
            <a:ext cx="256032" cy="256032"/>
          </a:xfrm>
          <a:prstGeom prst="ellipse">
            <a:avLst/>
          </a:prstGeom>
          <a:solidFill>
            <a:srgbClr val="0B4F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813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W1–2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Bamail pilot: 2 schools, 50 kits, per-batch chart calibration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6704" y="2157984"/>
            <a:ext cx="256032" cy="256032"/>
          </a:xfrm>
          <a:prstGeom prst="ellipse">
            <a:avLst/>
          </a:prstGeom>
          <a:solidFill>
            <a:srgbClr val="0B4F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514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W3–4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7180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ledger + officer review (RippleUp-style geofence at scale)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44184" y="2157984"/>
            <a:ext cx="256032" cy="256032"/>
          </a:xfrm>
          <a:prstGeom prst="ellipse">
            <a:avLst/>
          </a:prstGeom>
          <a:solidFill>
            <a:srgbClr val="01BA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4813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W5–6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risk model v1 + SMS fallback for feature phones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41664" y="2157984"/>
            <a:ext cx="256032" cy="256032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514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W7–8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audit: wells switched, exposure-days avoided — published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 at kickoff (Sept 28): the working system you just saw — pilot-ready, tested, bilingual.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53035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done: </a:t>
            </a:r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pipeline + model + kit-accuracy table (build/prepare_data.py), 23 automated tests, PWA offline shell, full evidence file with live-verified DOIs.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is building the bridge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88900" dist="25400" dir="5400000">
              <a:srgbClr val="0B3742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91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Rudra Sarker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student (CSE), Bangladesh · full-stack + AI builder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 production systems end-to-end: offline AI health worker PWA (49+ verified papers), court-domain trilingual classifier (F1 0.96 on a 1.28M-example corpus), QR-verified field platform with geofenced anti-fraud check-ins — the exact stack JolSetu composes.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JolSetu's dataset pipeline, risk model, kit-reader color science and 23-test suite for this challenge.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E8F6F3"/>
          </a:solidFill>
          <a:ln w="12700">
            <a:solidFill>
              <a:srgbClr val="CBE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22402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Mentorship on arsenic chemistry calibration standards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for a DPHE / UNICEF / WaterAid field pilot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of the data-trust architecture for national scale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Prize funds → 1,000 test kits + 5 school clubs in pilot unions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9144000" cy="5486400"/>
          </a:xfrm>
          <a:prstGeom prst="ellipse">
            <a:avLst/>
          </a:prstGeom>
          <a:solidFill>
            <a:srgbClr val="0B4F6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103120"/>
            <a:ext cx="2651760" cy="914400"/>
          </a:xfrm>
          <a:prstGeom prst="line">
            <a:avLst/>
          </a:prstGeom>
          <a:noFill/>
          <a:ln w="44450">
            <a:solidFill>
              <a:srgbClr val="01BA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1874520"/>
            <a:ext cx="420624" cy="420624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834640"/>
            <a:ext cx="420624" cy="420624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us on the bridge.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1BAE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জলসেতু — নিরাপদ পানির সেতু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5120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 ·  https://rudra496.github.io/jolsetu/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+ evidence  ·  https://github.com/rudra496/jolsetu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Rudra Sarker  ·  Xylem Global Student Innovation Challenge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JolSetu — Xylem Global Student Innovation Challenge 2026</dc:title>
  <dc:subject>PptxGenJS Presentation</dc:subject>
  <dc:creator>Rudra Sarker</dc:creator>
  <cp:lastModifiedBy>Rudra Sarker</cp:lastModifiedBy>
  <cp:revision>1</cp:revision>
  <dcterms:created xsi:type="dcterms:W3CDTF">2026-09-11T16:27:55Z</dcterms:created>
  <dcterms:modified xsi:type="dcterms:W3CDTF">2026-09-11T16:27:55Z</dcterms:modified>
</cp:coreProperties>
</file>